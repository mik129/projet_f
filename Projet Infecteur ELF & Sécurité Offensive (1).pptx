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</p:sldIdLst>
  <p:sldSz cx="12192000" cy="6858000"/>
  <p:notesSz cx="6858000" cy="9144000"/>
  <p:embeddedFontLst>
    <p:embeddedFont>
      <p:font typeface="Calibri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416" y="-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129/projet_f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0759"/>
            <a:ext cx="257175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449859"/>
            <a:ext cx="960120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Space Grotesk"/>
              </a:rPr>
              <a:t>Infecteur ELF &amp; Persistance par Manipulation d'En-têtes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79490"/>
            <a:ext cx="6762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Space Grotesk"/>
              </a:rPr>
              <a:t>Analyse bas niveau, injection de code exécutable, reverse shell et concepts Red Team sous Linux x86_64.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475" y="2045047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JetBrains Mono"/>
              </a:rPr>
              <a:t>SOUTENANCE DE PROJET SYSTÈME &amp;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5579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[ C / Assembly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4655790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4655790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[ Format ELF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0" y="4655790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655790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smtClean="0">
                <a:solidFill>
                  <a:srgbClr val="64748B"/>
                </a:solidFill>
                <a:latin typeface="JetBrains Mono"/>
              </a:rPr>
              <a:t>[ ESGI </a:t>
            </a:r>
            <a:r>
              <a:rPr sz="1050" b="0" i="0" u="none">
                <a:solidFill>
                  <a:srgbClr val="64748B"/>
                </a:solidFill>
                <a:latin typeface="JetBrains Mono"/>
              </a:rPr>
              <a:t>]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901700" y="450850"/>
            <a:ext cx="2641600" cy="8763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EDDY &amp; Klaus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57512"/>
            <a:ext cx="335280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957512"/>
            <a:ext cx="335280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57512"/>
            <a:ext cx="335280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30993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330993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5" y="330993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728787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1. Introduction &amp; Objectifs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281237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Maîtriser les mécanismes internes du système d'exploitation et la sécurité offensive.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729037"/>
            <a:ext cx="34754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Contexte Système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090987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Space Grotesk"/>
              </a:rPr>
              <a:t>Exploration des formats binaires sous Linux et de la mécanique interne du noyau.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2025" y="3729037"/>
            <a:ext cx="34754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Objectif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025" y="4090987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Space Grotesk"/>
              </a:rPr>
              <a:t>Concevoir un infecteur modifiant dynamiquement les en-têtes (PT_NOTE ➔ PT_LOAD).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9625" y="3729037"/>
            <a:ext cx="34754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Périmètre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9625" y="4090987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Space Grotesk"/>
              </a:rPr>
              <a:t>Développement bas niveau en C, Assembleur x86_64, réseau et techniques d'évasion.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38462"/>
            <a:ext cx="33528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00525" y="2843212"/>
            <a:ext cx="335280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58125" y="3024187"/>
            <a:ext cx="33528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9907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2. Analyse ELF &amp; Technique d'Infection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3175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Détournement d'un segment inoffensif pour allouer des droits d'exécution.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62337"/>
            <a:ext cx="3405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ÉTAPE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09987"/>
            <a:ext cx="3575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Ciblage du PT_NOTE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005262"/>
            <a:ext cx="2819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pace Grotesk"/>
              </a:rPr>
              <a:t>Recherche d'un segment non critique (ex: index 7) dans les en-têtes de programme.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3925" y="3457575"/>
            <a:ext cx="3405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ÉTAPE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3925" y="3705225"/>
            <a:ext cx="3575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Conversion PT_LOAD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925" y="4000500"/>
            <a:ext cx="2819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pace Grotesk"/>
              </a:rPr>
              <a:t>Modification des attributs pour attribuer les droits de Lecture et d'Exécution (R-E).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548062"/>
            <a:ext cx="3405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ÉTAPE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95712"/>
            <a:ext cx="3575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Redirection e_entry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90987"/>
            <a:ext cx="2819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pace Grotesk"/>
              </a:rPr>
              <a:t>Mise à jour du point d'entrée vers la zone injectée (0x1060 ➔ 0x6000).</a:t>
            </a:r>
          </a:p>
        </p:txBody>
      </p:sp>
      <p:sp>
        <p:nvSpPr>
          <p:cNvPr id="18" name="Rounded Rectangle 1"/>
          <p:cNvSpPr/>
          <p:nvPr/>
        </p:nvSpPr>
        <p:spPr>
          <a:xfrm>
            <a:off x="1793875" y="4921250"/>
            <a:ext cx="33528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 smtClean="0">
                <a:solidFill>
                  <a:schemeClr val="tx1"/>
                </a:solidFill>
              </a:rPr>
              <a:t>Shellcode</a:t>
            </a:r>
            <a:r>
              <a:rPr lang="fr-FR" b="1" dirty="0" smtClean="0">
                <a:solidFill>
                  <a:schemeClr val="tx1"/>
                </a:solidFill>
              </a:rPr>
              <a:t> / Reverse </a:t>
            </a:r>
            <a:r>
              <a:rPr lang="fr-FR" b="1" dirty="0" err="1" smtClean="0">
                <a:solidFill>
                  <a:schemeClr val="tx1"/>
                </a:solidFill>
              </a:rPr>
              <a:t>shell</a:t>
            </a:r>
            <a:r>
              <a:rPr lang="fr-FR" dirty="0" smtClean="0">
                <a:solidFill>
                  <a:schemeClr val="tx1"/>
                </a:solidFill>
              </a:rPr>
              <a:t>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" name="Rounded Rectangle 1"/>
          <p:cNvSpPr/>
          <p:nvPr/>
        </p:nvSpPr>
        <p:spPr>
          <a:xfrm>
            <a:off x="6003925" y="4921250"/>
            <a:ext cx="33528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Port </a:t>
            </a:r>
            <a:r>
              <a:rPr lang="fr-FR" b="1" dirty="0" err="1" smtClean="0">
                <a:solidFill>
                  <a:schemeClr val="tx1"/>
                </a:solidFill>
              </a:rPr>
              <a:t>Knocking</a:t>
            </a:r>
            <a:endParaRPr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486150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4861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3486150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843" y="1566711"/>
            <a:ext cx="4084451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4. </a:t>
            </a:r>
            <a:r>
              <a:rPr lang="fr-FR" sz="2700" b="1" i="0" u="none" dirty="0" smtClean="0">
                <a:solidFill>
                  <a:srgbClr val="0F172A"/>
                </a:solidFill>
                <a:latin typeface="Space Grotesk"/>
              </a:rPr>
              <a:t>Architecture du projet </a:t>
            </a:r>
            <a:endParaRPr sz="27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8225" y="3867150"/>
            <a:ext cx="37420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Staging &amp; Packers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162425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pace Grotesk"/>
              </a:rPr>
              <a:t>Utilisation de droppers et obfuscation de charges utiles sur le disque.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867150"/>
            <a:ext cx="37420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Environmental Keying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4162425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pace Grotesk"/>
              </a:rPr>
              <a:t>Conditionnement de l'exécution (anti-sandbox) pour déjouer l'analyse.</a:t>
            </a:r>
          </a:p>
        </p:txBody>
      </p:sp>
      <p:pic>
        <p:nvPicPr>
          <p:cNvPr id="16" name="Image 15" descr="Capture d'écran 2026-10-10 062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75" y="2228456"/>
            <a:ext cx="8966200" cy="4591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9800" y="3022550"/>
            <a:ext cx="5410200" cy="1965424"/>
          </a:xfrm>
          <a:prstGeom prst="roundRect">
            <a:avLst>
              <a:gd name="adj" fmla="val 581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938462"/>
            <a:ext cx="48768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671887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024312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376737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785937"/>
            <a:ext cx="453970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3. </a:t>
            </a:r>
            <a:r>
              <a:rPr lang="fr-FR" sz="2700" b="1" i="0" u="none" dirty="0" smtClean="0">
                <a:solidFill>
                  <a:srgbClr val="0F172A"/>
                </a:solidFill>
                <a:latin typeface="Space Grotesk"/>
              </a:rPr>
              <a:t> Explication du code </a:t>
            </a:r>
            <a:r>
              <a:rPr lang="fr-FR" sz="2700" b="1" i="0" u="none" dirty="0" err="1" smtClean="0">
                <a:solidFill>
                  <a:srgbClr val="0F172A"/>
                </a:solidFill>
                <a:latin typeface="Space Grotesk"/>
              </a:rPr>
              <a:t>asm</a:t>
            </a:r>
            <a:endParaRPr sz="2700" b="1" i="0" u="none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2338387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Implémentation bas niveau en Assembleur x86_64 et gestion des flux.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289250"/>
            <a:ext cx="5905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; Extrait Assembleur - Sortie propre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578721"/>
            <a:ext cx="5905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mov rax, 60 ; sys_exit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791991"/>
            <a:ext cx="5905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xor rdi, rdi ; code 0 (succès)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4005262"/>
            <a:ext cx="5905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syscall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431803"/>
            <a:ext cx="5905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; Garantit la stabilité post-payload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252787"/>
            <a:ext cx="55756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Mécanismes 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652837"/>
            <a:ext cx="5310187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Bind Shell &amp; Reverse Shell pour le contrôle distant.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005262"/>
            <a:ext cx="5310187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Redirection des descripteurs de fichiers via dup2.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4357687"/>
            <a:ext cx="4343400" cy="4000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Sortie propre (sys_exit) pour éviter le Segmentation 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262312"/>
            <a:ext cx="5181600" cy="1409700"/>
          </a:xfrm>
          <a:prstGeom prst="roundRect">
            <a:avLst>
              <a:gd name="adj" fmla="val 810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262312"/>
            <a:ext cx="5181600" cy="1409700"/>
          </a:xfrm>
          <a:prstGeom prst="roundRect">
            <a:avLst>
              <a:gd name="adj" fmla="val 810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185987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5. Démonstration Live : 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38437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Validation de la transformation structurelle du binaire 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3529012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// AVANT INFECTION (./infector cible)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767137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JetBrains Mono"/>
              </a:rPr>
              <a:t>Point d'entree : 0x1060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4005262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ACC15"/>
                </a:solidFill>
                <a:latin typeface="JetBrains Mono"/>
              </a:rPr>
              <a:t>7 NOTE 0x000350 R--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4243387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JetBrains Mono"/>
              </a:rPr>
              <a:t>Segment inoffensif en lecture seule.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529012"/>
            <a:ext cx="5676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// APRES INFECTION (./infector cible sc.bin)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767137"/>
            <a:ext cx="5676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JetBrains Mono"/>
              </a:rPr>
              <a:t>Point d'entree : 0x6000 (modifié)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005262"/>
            <a:ext cx="5676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ADE80"/>
                </a:solidFill>
                <a:latin typeface="JetBrains Mono"/>
              </a:rPr>
              <a:t>7 LOAD 0x004000 R-E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243387"/>
            <a:ext cx="5676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JetBrains Mono"/>
              </a:rPr>
              <a:t>Segment converti en exécutable en mémoire.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3380482"/>
            <a:ext cx="5143500" cy="1478160"/>
          </a:xfrm>
          <a:prstGeom prst="roundRect">
            <a:avLst>
              <a:gd name="adj" fmla="val 7732"/>
            </a:avLst>
          </a:prstGeom>
          <a:solidFill>
            <a:srgbClr val="10141D"/>
          </a:solidFill>
          <a:ln w="9525">
            <a:solidFill>
              <a:srgbClr val="222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380482"/>
            <a:ext cx="5143500" cy="1478160"/>
          </a:xfrm>
          <a:prstGeom prst="roundRect">
            <a:avLst>
              <a:gd name="adj" fmla="val 7732"/>
            </a:avLst>
          </a:prstGeom>
          <a:solidFill>
            <a:srgbClr val="10141D"/>
          </a:solidFill>
          <a:ln w="9525">
            <a:solidFill>
              <a:srgbClr val="222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999357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Space Grotesk"/>
              </a:rPr>
              <a:t>8. Conclusion &amp; 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675632"/>
            <a:ext cx="952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Space Grotesk"/>
              </a:rPr>
              <a:t>Bilan des compétences acquises et traçabilité rigoureuse du projet.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694807"/>
            <a:ext cx="2870338" cy="246221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anchor="t">
            <a:spAutoFit/>
          </a:bodyPr>
          <a:lstStyle/>
          <a:p>
            <a:r>
              <a:rPr sz="1500" b="1" i="0" u="none">
                <a:solidFill>
                  <a:srgbClr val="38BDF8"/>
                </a:solidFill>
                <a:latin typeface="Space Grotesk"/>
              </a:rPr>
              <a:t>Traçabilité </a:t>
            </a:r>
            <a:r>
              <a:rPr sz="1500" b="1" i="0" u="none" smtClean="0">
                <a:solidFill>
                  <a:srgbClr val="38BDF8"/>
                </a:solidFill>
                <a:latin typeface="Space Grotesk"/>
              </a:rPr>
              <a:t>Git</a:t>
            </a:r>
            <a:r>
              <a:rPr lang="fr-FR" sz="1500" b="1" dirty="0" smtClean="0">
                <a:solidFill>
                  <a:srgbClr val="38BDF8"/>
                </a:solidFill>
                <a:latin typeface="Space Grotesk"/>
              </a:rPr>
              <a:t> </a:t>
            </a:r>
            <a:r>
              <a:rPr lang="fr-FR" sz="1500" b="1" dirty="0" smtClean="0">
                <a:solidFill>
                  <a:srgbClr val="38BDF8"/>
                </a:solidFill>
                <a:latin typeface="Space Grotesk"/>
              </a:rPr>
              <a:t>:</a:t>
            </a:r>
            <a:r>
              <a:rPr lang="fr-FR" sz="1600" dirty="0" smtClean="0">
                <a:hlinkClick r:id="rId2"/>
              </a:rPr>
              <a:t> </a:t>
            </a:r>
            <a:r>
              <a:rPr lang="fr-FR" sz="1600" dirty="0" smtClean="0">
                <a:solidFill>
                  <a:schemeClr val="bg1"/>
                </a:solidFill>
                <a:hlinkClick r:id="rId2"/>
              </a:rPr>
              <a:t>mik129/</a:t>
            </a:r>
            <a:r>
              <a:rPr lang="fr-FR" sz="1600" dirty="0" err="1" smtClean="0">
                <a:solidFill>
                  <a:schemeClr val="bg1"/>
                </a:solidFill>
                <a:hlinkClick r:id="rId2"/>
              </a:rPr>
              <a:t>projet_f</a:t>
            </a:r>
            <a:endParaRPr sz="1500" b="1" i="0" u="none">
              <a:solidFill>
                <a:schemeClr val="bg1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6325" y="4056757"/>
            <a:ext cx="46101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Space Grotesk"/>
              </a:rPr>
              <a:t>Développement incrémental rigoureux et gestion précise des versions de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694807"/>
            <a:ext cx="55911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Acquis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4056757"/>
            <a:ext cx="46101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Space Grotesk"/>
              </a:rPr>
              <a:t>Maîtrise approfondie de la structure ELF, de la mémoire virtuelle et de la sécurité offensive sous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421</Words>
  <Application>Microsoft Macintosh PowerPoint</Application>
  <PresentationFormat>Personnalisé</PresentationFormat>
  <Paragraphs>62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Space Grotesk</vt:lpstr>
      <vt:lpstr>JetBrains Mono</vt:lpstr>
      <vt:lpstr>Calibri</vt:lpstr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Mikhael</dc:creator>
  <dc:description>generated using python-pptx</dc:description>
  <cp:lastModifiedBy>Lenovo</cp:lastModifiedBy>
  <cp:revision>4</cp:revision>
  <dcterms:created xsi:type="dcterms:W3CDTF">2013-01-27T09:14:16Z</dcterms:created>
  <dcterms:modified xsi:type="dcterms:W3CDTF">2026-10-10T04:39:43Z</dcterms:modified>
</cp:coreProperties>
</file>